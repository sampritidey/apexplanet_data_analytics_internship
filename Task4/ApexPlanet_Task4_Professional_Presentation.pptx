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Approximate average spending per customer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spending / customer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74070</c:v>
                </c:pt>
                <c:pt idx="1">
                  <c:v>275960</c:v>
                </c:pt>
                <c:pt idx="2">
                  <c:v>311030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₹0,&quot;K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0" y="0"/>
            <a:ext cx="320040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 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BFDBFE"/>
                </a:solidFill>
                <a:latin typeface="Aptos"/>
              </a:defRPr>
            </a:pPr>
            <a:r>
              <a:t>&amp;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Customer Segmentation &amp; Spending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From cleaned data → customer segments → statistical evidence → business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Aptos"/>
              </a:defRPr>
            </a:pPr>
            <a: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Task 1: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1874519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1874519"/>
            <a:ext cx="73152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0208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86207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Task 2: sales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1874519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1874519"/>
            <a:ext cx="73152" cy="2057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0208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86207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Task 3: K-Means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874519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1874519"/>
            <a:ext cx="73152" cy="2057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0208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86207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Task 4: hypothesis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1874519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29800" y="1874519"/>
            <a:ext cx="73152" cy="2057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0208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35000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86207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Insights &amp;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Aptos"/>
              </a:defRPr>
            </a:pPr>
            <a:r>
              <a:t>The story connects descriptive analytics with statistical evidence so that observed segment differences can be interpreted more rigorously.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Aptos"/>
              </a:defRPr>
            </a:pPr>
            <a:r>
              <a:t>THE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2340"/>
                </a:solidFill>
                <a:latin typeface="Aptos"/>
              </a:defRPr>
            </a:pPr>
            <a:r>
              <a:t>Do customer segments have statistically significant differences in customer spending?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63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92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947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048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Customer-level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17320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41732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563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SEGMENTS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92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048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K-Means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Bring Tasks 1–3 into one business story.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Formulate and test a measurable hypothesis.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Interpret p-values and 95% confidence intervals.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Translate statistical evidence into business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Dataset &amp; Analytical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72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01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947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13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Customer-level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3258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3258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472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01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13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K-Means segments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258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72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01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13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Spending, quantity, orders, AOV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13258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132588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4721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SIGNIFICANCE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1801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134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α = 0.05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246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340"/>
                </a:solidFill>
                <a:latin typeface="Aptos"/>
              </a:defRPr>
            </a:pPr>
            <a:r>
              <a:t>TASK 1 → DATA PREPARATION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Checked structure, data types, missing values and duplicates.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Standardized the dataset for downstream analysis.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Created a reusable cleaned dataset.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340"/>
                </a:solidFill>
                <a:latin typeface="Aptos"/>
              </a:defRPr>
            </a:pPr>
            <a:r>
              <a:t>TASK 2 → EXPLORATORY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118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Compared sales by category, city, product, month and gender.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Electronics was the highest-selling category.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Patna recorded the highest total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Task 2 — What the Sales Data Showed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7218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TOP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0136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1343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₹50.78M total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32588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325880"/>
            <a:ext cx="73152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47218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TOP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80136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Patna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31343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₹19.29M total sales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325880"/>
            <a:ext cx="3246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325880"/>
            <a:ext cx="73152" cy="1554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47218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NEXT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80136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Who buys?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1343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Customer-level behaviour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22340"/>
                </a:solidFill>
                <a:latin typeface="Aptos"/>
              </a:defRPr>
            </a:pPr>
            <a:r>
              <a:t>The EDA identified strong sales patterns, but aggregate sales alone cannot explain how individual customers differ.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748B"/>
                </a:solidFill>
                <a:latin typeface="Aptos"/>
              </a:defRPr>
            </a:pPr>
            <a:r>
              <a:t>That gap motivated the next step: segmenting customers by purchasing behaviour.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Task 3 — Customer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Customers were grouped using purchasing behaviour.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Total Spending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Total Quantity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Number of Orders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Average Order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2801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42646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755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613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2801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28016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42646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755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282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2801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280160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426463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755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267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0632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306324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3209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SPENDING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538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₹45.41M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0632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306324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209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SPENDING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538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₹77.82M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30632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3063240"/>
            <a:ext cx="73152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3209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SPENDING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35387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₹16.17M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9834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Aptos"/>
              </a:defRPr>
            </a:pPr>
            <a:r>
              <a:t>Cluster 1 has the highest total spending; Cluster 2 has the highest average spending per customer.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Segment Spending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1325880"/>
          <a:ext cx="66751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4630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4630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934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HIGHEST CUSTOMER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3852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Cluster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5059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613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24612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24612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39242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HIGHEST TOTAL SPENDING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72160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Cluster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3367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₹77.82M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50292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5029200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517550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HIGHEST AVG / 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04688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Cluster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6016752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~₹311K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The Testable Business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51206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7160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17904"/>
            <a:ext cx="4754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NULL HYPOTHESIS (H₀)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47088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No significant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9152"/>
            <a:ext cx="4754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Customer spending is not different across segments.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1206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187451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17904"/>
            <a:ext cx="4754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ALTERNATIVE (H₁)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47088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A significant difference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9152"/>
            <a:ext cx="4754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At least one segment differs in customer spending.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p-value &lt; 0.05  →  Reject H₀</a:t>
            </a:r>
            <a:br/>
            <a:r>
              <a:t>p-value ≥ 0.05 →  Fail to reject H₀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Significance level: α = 0.05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Statistical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340"/>
                </a:solidFill>
                <a:latin typeface="Aptos"/>
              </a:defRPr>
            </a:pPr>
            <a:r>
              <a:t>Why Kruskal–Wallis?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Three independent customer segments.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Spending is highly skewed.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Variances differ substantially across groups.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A non-parametric omnibus test is appropriate.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636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PRIMARY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928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Kruskal–Wallis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048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Compare spending distributions across 3 groups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5468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1546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009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301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Mann–Whitney 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422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Pairwise comparisons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92040"/>
            <a:ext cx="4480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892040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03834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367527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95% bootstrap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8795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Mean-difference intervals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Assumption Check —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340"/>
                </a:solidFill>
                <a:latin typeface="Aptos"/>
              </a:defRPr>
            </a:pPr>
            <a:r>
              <a:t>Levene's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C2626"/>
                </a:solidFill>
                <a:latin typeface="Aptos"/>
              </a:defRPr>
            </a:pPr>
            <a:r>
              <a:t>p ≈ 2.57 × 10⁻⁵⁹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Aptos"/>
              </a:defRPr>
            </a:pPr>
            <a:r>
              <a:t>Because p &lt; 0.05, the equal-variance assumption is not supported.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563624"/>
            <a:ext cx="4023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92808"/>
            <a:ext cx="4023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Unequal variances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04872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Strong evidence against equal variance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6324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06324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209544"/>
            <a:ext cx="4023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38728"/>
            <a:ext cx="4023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Use robust / non-parametric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50791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Supports Kruskal–Wallis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3C5FD"/>
                </a:solidFill>
                <a:latin typeface="Aptos"/>
              </a:defRPr>
            </a:pPr>
            <a:r>
              <a:t>Overall Statistical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Kruskal–Wallis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108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06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H-STATISTIC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600.52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560320"/>
            <a:ext cx="3108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56032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706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P-VALUE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3.97 × 10⁻¹³¹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560320"/>
            <a:ext cx="3108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560320"/>
            <a:ext cx="73152" cy="1600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7066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Reject H₀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The evidence indicates statistically significant differences in customer spending across the segments.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Pairwise Statistical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5486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08760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55063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 0 vs Cluster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1.18 × 10⁻¹²⁴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508760"/>
            <a:ext cx="4389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150876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655063"/>
            <a:ext cx="4023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84248"/>
            <a:ext cx="4023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Significant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34639"/>
            <a:ext cx="5486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834639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809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 0 vs Cluster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1012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4.46 × 10⁻²³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834639"/>
            <a:ext cx="4389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2834639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980944"/>
            <a:ext cx="4023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310127"/>
            <a:ext cx="4023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Significant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5486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160520"/>
            <a:ext cx="7315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068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Cluster 1 vs Cluster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6360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0.556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4160520"/>
            <a:ext cx="4389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160520"/>
            <a:ext cx="73152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306824"/>
            <a:ext cx="4023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36008"/>
            <a:ext cx="4023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Not significant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Aptos"/>
              </a:defRPr>
            </a:pPr>
            <a:r>
              <a:t>The overall difference is driven primarily by the separation of Cluster 0 from the other two segments.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95% Bootstrap Confidence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340"/>
                </a:solidFill>
                <a:latin typeface="Aptos"/>
              </a:defRPr>
            </a:pPr>
            <a:r>
              <a:t>C0 − 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Aptos"/>
              </a:defRPr>
            </a:pPr>
            <a:r>
              <a:t>−₹201.9K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417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−₹212.6K to −₹191.2K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Aptos"/>
              </a:defRPr>
            </a:pPr>
            <a:r>
              <a:t>Excludes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340"/>
                </a:solidFill>
                <a:latin typeface="Aptos"/>
              </a:defRPr>
            </a:pPr>
            <a:r>
              <a:t>C0 − 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Aptos"/>
              </a:defRPr>
            </a:pPr>
            <a:r>
              <a:t>−₹237.0K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−₹287.9K to −₹188.1K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Aptos"/>
              </a:defRPr>
            </a:pPr>
            <a:r>
              <a:t>Excludes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340"/>
                </a:solidFill>
                <a:latin typeface="Aptos"/>
              </a:defRPr>
            </a:pPr>
            <a:r>
              <a:t>C1 − 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69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Aptos"/>
              </a:defRPr>
            </a:pPr>
            <a:r>
              <a:t>−₹35.1K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0690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−₹88.1K to ₹15.5K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069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Aptos"/>
              </a:defRPr>
            </a:pPr>
            <a:r>
              <a:t>Includes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424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Intervals that exclude zero align with statistically significant pairwise differences.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From Statistics to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72184"/>
            <a:ext cx="4709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64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340"/>
                </a:solidFill>
                <a:latin typeface="Aptos"/>
              </a:defRPr>
            </a:pPr>
            <a:r>
              <a:t>Segments are meaningfully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Customer spending is not uniform across the customer 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3258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32588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472184"/>
            <a:ext cx="4709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1764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340"/>
                </a:solidFill>
                <a:latin typeface="Aptos"/>
              </a:defRPr>
            </a:pPr>
            <a:r>
              <a:t>Cluster 0 is the scale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It contains 613 customers and offers the largest customer reach.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73152" cy="1691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21024"/>
            <a:ext cx="4709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136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340"/>
                </a:solidFill>
                <a:latin typeface="Aptos"/>
              </a:defRPr>
            </a:pPr>
            <a:r>
              <a:t>Cluster 1 is the revenue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It contributes ~₹77.82M in total spending.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4747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47472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3621024"/>
            <a:ext cx="4709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9136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340"/>
                </a:solidFill>
                <a:latin typeface="Aptos"/>
              </a:defRPr>
            </a:pPr>
            <a:r>
              <a:t>Cluster 2 is small but high-value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Only 52 customers, with high average spending per customer.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80160"/>
            <a:ext cx="10515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26463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Segment-specific campaigns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Tailor offers, messaging and retention tactics to customer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14600"/>
            <a:ext cx="10515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14600"/>
            <a:ext cx="73152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60904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Protect high-value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0215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Use loyalty, premium offers and cross-sell opportunities for high-spending groups.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9039"/>
            <a:ext cx="10515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749039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95344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Grow the largest 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Increase purchase frequency and average order value within Cluster 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83480"/>
            <a:ext cx="10515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98348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29784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Leverage Electronics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7103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Use bundles, recommendations and targeted promotions around the top category.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340"/>
                </a:solidFill>
                <a:latin typeface="Aptos"/>
              </a:defRPr>
            </a:pPr>
            <a:r>
              <a:t>Looker Studio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Executive view + Customer Segmentation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Customer Segment filter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Category, City and Gender filters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Date-range analysis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Segment-level spending comparisons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4297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8895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1868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22340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307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Two-page business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177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ptos"/>
              </a:defRPr>
            </a:pPr>
            <a:r>
              <a:t>datastudio.google.com/reporting/</a:t>
            </a:r>
            <a:br/>
            <a:r>
              <a:t>b951b80e-a4d5-4e9f-b801-4788e98671ff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3C5F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 complete data story needs both patterns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Tasks 1–3 established the data foundation, sales patterns and customer segments. Task 4 added statistical validation: the Kruskal–Wallis result provides strong evidence of differences in customer spending, while pairwise testing identifies where the differences appear.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Final message: use segmentation to understand customers, statistics to validate differences, and dashboards to communicate 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2340"/>
                </a:solidFill>
                <a:latin typeface="Aptos"/>
              </a:defRPr>
            </a:pPr>
            <a:r>
              <a:t>Task 4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100023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8016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26463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Final_Presentation.pptx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Professional presentation deck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2316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23160"/>
            <a:ext cx="73152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9464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Hypothesis_Testing_Summary.pdf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107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Statistical validation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6616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66160"/>
            <a:ext cx="73152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12463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Task4_Statistical_Results.xlsx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537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Detailed statistical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0916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709160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55464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Aptos"/>
              </a:defRPr>
            </a:pPr>
            <a:r>
              <a:t>Hypothesis_Testing.py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967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Reproducible analysis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Aptos"/>
              </a:defRPr>
            </a:pPr>
            <a:r>
              <a:t>GitHub folder: Task4/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88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FDBFE"/>
                </a:solidFill>
                <a:latin typeface="Aptos"/>
              </a:defRPr>
            </a:pPr>
            <a:r>
              <a:t>ApexPlanet Data Analytics Internship • 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Data Storytelling &amp; Statistical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800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ptos"/>
              </a:defRPr>
            </a:pPr>
            <a:r>
              <a:t>Customer Segmentation &amp; Spending Behaviour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